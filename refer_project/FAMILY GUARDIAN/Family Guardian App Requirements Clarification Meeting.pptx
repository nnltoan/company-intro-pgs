
<file path=[Content_Types].xml><?xml version="1.0" encoding="utf-8"?>
<Types xmlns="http://schemas.openxmlformats.org/package/2006/content-types">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Raleway"/>
      <p:regular r:id="rId16"/>
      <p:bold r:id="rId17"/>
      <p:italic r:id="rId18"/>
      <p:boldItalic r:id="rId19"/>
    </p:embeddedFont>
    <p:embeddedFont>
      <p:font typeface="Lato"/>
      <p:regular r:id="rId20"/>
      <p:bold r:id="rId21"/>
      <p:italic r:id="rId22"/>
      <p:boldItalic r:id="rId2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Lato-regular.fntdata"/><Relationship Id="rId11" Type="http://schemas.openxmlformats.org/officeDocument/2006/relationships/slide" Target="slides/slide6.xml"/><Relationship Id="rId22" Type="http://schemas.openxmlformats.org/officeDocument/2006/relationships/font" Target="fonts/Lato-italic.fntdata"/><Relationship Id="rId10" Type="http://schemas.openxmlformats.org/officeDocument/2006/relationships/slide" Target="slides/slide5.xml"/><Relationship Id="rId21"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font" Target="fonts/La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Raleway-bold.fntdata"/><Relationship Id="rId16" Type="http://schemas.openxmlformats.org/officeDocument/2006/relationships/font" Target="fonts/Raleway-regular.fntdata"/><Relationship Id="rId5" Type="http://schemas.openxmlformats.org/officeDocument/2006/relationships/notesMaster" Target="notesMasters/notesMaster1.xml"/><Relationship Id="rId19" Type="http://schemas.openxmlformats.org/officeDocument/2006/relationships/font" Target="fonts/Raleway-boldItalic.fntdata"/><Relationship Id="rId6" Type="http://schemas.openxmlformats.org/officeDocument/2006/relationships/slide" Target="slides/slide1.xml"/><Relationship Id="rId18"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418cd55309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418cd55309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418cd55309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418cd55309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418cd55309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418cd55309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3418cd55309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3418cd55309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418cd55309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418cd55309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30bc73f04fc197a3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30bc73f04fc197a3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418cd55309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418cd55309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g3418cd55309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4" name="Google Shape;134;g3418cd55309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418cd55309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418cd55309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3"/>
          <p:cNvSpPr txBox="1"/>
          <p:nvPr>
            <p:ph type="ctrTitle"/>
          </p:nvPr>
        </p:nvSpPr>
        <p:spPr>
          <a:xfrm>
            <a:off x="729450" y="1322450"/>
            <a:ext cx="7688100" cy="166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Family Guardian App Requirements Clarification Meeting</a:t>
            </a:r>
            <a:endParaRPr/>
          </a:p>
        </p:txBody>
      </p:sp>
      <p:sp>
        <p:nvSpPr>
          <p:cNvPr id="87" name="Google Shape;87;p13"/>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vi"/>
              <a:t>19/03/2025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1200"/>
              </a:spcAft>
              <a:buNone/>
            </a:pPr>
            <a:r>
              <a:rPr lang="vi" sz="2300">
                <a:solidFill>
                  <a:srgbClr val="000000"/>
                </a:solidFill>
                <a:latin typeface="Arial"/>
                <a:ea typeface="Arial"/>
                <a:cs typeface="Arial"/>
                <a:sym typeface="Arial"/>
              </a:rPr>
              <a:t>Mục tiêu:</a:t>
            </a:r>
            <a:endParaRPr sz="2300"/>
          </a:p>
        </p:txBody>
      </p:sp>
      <p:sp>
        <p:nvSpPr>
          <p:cNvPr id="93" name="Google Shape;93;p1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rgbClr val="000000"/>
              </a:buClr>
              <a:buSzPts val="1300"/>
              <a:buFont typeface="Arial"/>
              <a:buChar char="●"/>
            </a:pPr>
            <a:r>
              <a:rPr lang="vi">
                <a:solidFill>
                  <a:srgbClr val="000000"/>
                </a:solidFill>
                <a:latin typeface="Arial"/>
                <a:ea typeface="Arial"/>
                <a:cs typeface="Arial"/>
                <a:sym typeface="Arial"/>
              </a:rPr>
              <a:t>Làm rõ các yêu cầu trong spec + figma.</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Giới thiệu tech stack từ Danaexperts.</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Thảo luận thêm các vấn đề khác (report, v.v.).</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15"/>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QA - Làm rõ Spec</a:t>
            </a:r>
            <a:endParaRPr/>
          </a:p>
        </p:txBody>
      </p:sp>
      <p:sp>
        <p:nvSpPr>
          <p:cNvPr id="99" name="Google Shape;99;p15"/>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1100"/>
              </a:spcBef>
              <a:spcAft>
                <a:spcPts val="0"/>
              </a:spcAft>
              <a:buNone/>
            </a:pPr>
            <a:r>
              <a:rPr b="1" lang="vi" sz="1200">
                <a:solidFill>
                  <a:srgbClr val="000000"/>
                </a:solidFill>
                <a:latin typeface="Arial"/>
                <a:ea typeface="Arial"/>
                <a:cs typeface="Arial"/>
                <a:sym typeface="Arial"/>
              </a:rPr>
              <a:t>Kết nối Family</a:t>
            </a:r>
            <a:endParaRPr b="1" sz="12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lang="vi">
                <a:solidFill>
                  <a:srgbClr val="000000"/>
                </a:solidFill>
                <a:latin typeface="Arial"/>
                <a:ea typeface="Arial"/>
                <a:cs typeface="Arial"/>
                <a:sym typeface="Arial"/>
              </a:rPr>
              <a:t>Trong mô hình "Family" (cha kết nối với 2 con): Hai "con" có thấy vị trí của nhau không, hay chỉ "cha" xem được cả hai "con", và "con" chỉ xem được "cha"?</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lang="vi">
                <a:solidFill>
                  <a:srgbClr val="000000"/>
                </a:solidFill>
                <a:latin typeface="Arial"/>
                <a:ea typeface="Arial"/>
                <a:cs typeface="Arial"/>
                <a:sym typeface="Arial"/>
              </a:rPr>
              <a:t>Mã mời (invite code) để thêm user vào "Family" là cố định hay thay đổi mỗi lần mời?</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lang="vi">
                <a:solidFill>
                  <a:srgbClr val="000000"/>
                </a:solidFill>
                <a:latin typeface="Arial"/>
                <a:ea typeface="Arial"/>
                <a:cs typeface="Arial"/>
                <a:sym typeface="Arial"/>
              </a:rPr>
              <a:t>Trong trường hợp SOS: Thông báo gửi đến tất cả thiết bị của mọi user trong "Family" hay chỉ một số đối tượng cụ thể?</a:t>
            </a:r>
            <a:endParaRPr sz="15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QA - Làm rõ Spec</a:t>
            </a:r>
            <a:endParaRPr/>
          </a:p>
        </p:txBody>
      </p:sp>
      <p:sp>
        <p:nvSpPr>
          <p:cNvPr id="105" name="Google Shape;105;p16"/>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1100"/>
              </a:spcBef>
              <a:spcAft>
                <a:spcPts val="0"/>
              </a:spcAft>
              <a:buNone/>
            </a:pPr>
            <a:r>
              <a:rPr b="1" lang="vi" sz="1200">
                <a:solidFill>
                  <a:srgbClr val="000000"/>
                </a:solidFill>
                <a:latin typeface="Arial"/>
                <a:ea typeface="Arial"/>
                <a:cs typeface="Arial"/>
                <a:sym typeface="Arial"/>
              </a:rPr>
              <a:t>Lịch sử vị trí (History)</a:t>
            </a:r>
            <a:endParaRPr b="1" sz="12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startAt="4"/>
            </a:pPr>
            <a:r>
              <a:rPr lang="vi">
                <a:solidFill>
                  <a:srgbClr val="000000"/>
                </a:solidFill>
                <a:latin typeface="Arial"/>
                <a:ea typeface="Arial"/>
                <a:cs typeface="Arial"/>
                <a:sym typeface="Arial"/>
              </a:rPr>
              <a:t>Lịch sử vị trí (thời gian + tọa độ) lưu theo cách nào? (Ví dụ: mỗi 15 phút, khi vị trí thay đổi, vào/ra security zone, hay thủ công?)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startAt="4"/>
            </a:pPr>
            <a:r>
              <a:rPr lang="vi">
                <a:solidFill>
                  <a:srgbClr val="000000"/>
                </a:solidFill>
                <a:latin typeface="Arial"/>
                <a:ea typeface="Arial"/>
                <a:cs typeface="Arial"/>
                <a:sym typeface="Arial"/>
              </a:rPr>
              <a:t>"Alert History" khác "History" thế nào? "Alert History" là lịch sử cảnh báo (như rời khu vực), còn "History" là toàn bộ di chuyển?</a:t>
            </a:r>
            <a:endParaRPr b="1" sz="1400">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17"/>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QA - Làm rõ Spec</a:t>
            </a:r>
            <a:endParaRPr/>
          </a:p>
        </p:txBody>
      </p:sp>
      <p:sp>
        <p:nvSpPr>
          <p:cNvPr id="111" name="Google Shape;111;p17"/>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1100"/>
              </a:spcBef>
              <a:spcAft>
                <a:spcPts val="0"/>
              </a:spcAft>
              <a:buNone/>
            </a:pPr>
            <a:r>
              <a:rPr b="1" lang="vi" sz="1200">
                <a:solidFill>
                  <a:srgbClr val="000000"/>
                </a:solidFill>
                <a:latin typeface="Arial"/>
                <a:ea typeface="Arial"/>
                <a:cs typeface="Arial"/>
                <a:sym typeface="Arial"/>
              </a:rPr>
              <a:t>Quản lý thiết bị và chia sẻ vị trí</a:t>
            </a:r>
            <a:endParaRPr b="1" sz="1200">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startAt="6"/>
            </a:pPr>
            <a:r>
              <a:rPr lang="vi">
                <a:solidFill>
                  <a:srgbClr val="000000"/>
                </a:solidFill>
                <a:latin typeface="Arial"/>
                <a:ea typeface="Arial"/>
                <a:cs typeface="Arial"/>
                <a:sym typeface="Arial"/>
              </a:rPr>
              <a:t>Nếu user có nhiều thiết bị, vị trí của thiết bị nào được chia sẻ? Có chọn thủ công được không?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startAt="6"/>
            </a:pPr>
            <a:r>
              <a:rPr lang="vi">
                <a:solidFill>
                  <a:srgbClr val="000000"/>
                </a:solidFill>
                <a:latin typeface="Arial"/>
                <a:ea typeface="Arial"/>
                <a:cs typeface="Arial"/>
                <a:sym typeface="Arial"/>
              </a:rPr>
              <a:t>Mỗi thiết bị có cần cài app không? Nếu không, làm sao phát âm thanh khi nhận lệnh?</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startAt="6"/>
            </a:pPr>
            <a:r>
              <a:rPr lang="vi">
                <a:solidFill>
                  <a:srgbClr val="000000"/>
                </a:solidFill>
                <a:latin typeface="Arial"/>
                <a:ea typeface="Arial"/>
                <a:cs typeface="Arial"/>
                <a:sym typeface="Arial"/>
              </a:rPr>
              <a:t>Tài khoản có đăng nhập cùng lúc trên nhiều thiết bị không? Nếu có, vị trí từ các thiết bị được xử lý ra sao? Lịch sử có ghi tên thiết bị không?</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startAt="6"/>
            </a:pPr>
            <a:r>
              <a:rPr lang="vi">
                <a:solidFill>
                  <a:srgbClr val="000000"/>
                </a:solidFill>
                <a:latin typeface="Arial"/>
                <a:ea typeface="Arial"/>
                <a:cs typeface="Arial"/>
                <a:sym typeface="Arial"/>
              </a:rPr>
              <a:t>Sau khi mời và chấp nhận: Chia sẻ vị trí là hai chiều hay một chiều? Tắt "Share my current location" thì ẩn vị trí hiện tại nhưng vẫn thấy lịch sử? User tắt vẫn xem được người khác nếu họ chưa tắt?</a:t>
            </a:r>
            <a:endParaRPr b="1" sz="1400">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18"/>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QA - Làm rõ Spec</a:t>
            </a:r>
            <a:endParaRPr/>
          </a:p>
        </p:txBody>
      </p:sp>
      <p:sp>
        <p:nvSpPr>
          <p:cNvPr id="117" name="Google Shape;117;p18"/>
          <p:cNvSpPr txBox="1"/>
          <p:nvPr>
            <p:ph idx="1" type="body"/>
          </p:nvPr>
        </p:nvSpPr>
        <p:spPr>
          <a:xfrm>
            <a:off x="729450" y="2078875"/>
            <a:ext cx="7688700" cy="2830800"/>
          </a:xfrm>
          <a:prstGeom prst="rect">
            <a:avLst/>
          </a:prstGeom>
        </p:spPr>
        <p:txBody>
          <a:bodyPr anchorCtr="0" anchor="t" bIns="91425" lIns="91425" spcFirstLastPara="1" rIns="91425" wrap="square" tIns="91425">
            <a:noAutofit/>
          </a:bodyPr>
          <a:lstStyle/>
          <a:p>
            <a:pPr indent="0" lvl="0" marL="0" rtl="0" algn="l">
              <a:spcBef>
                <a:spcPts val="1100"/>
              </a:spcBef>
              <a:spcAft>
                <a:spcPts val="0"/>
              </a:spcAft>
              <a:buNone/>
            </a:pPr>
            <a:r>
              <a:rPr b="1" lang="vi">
                <a:solidFill>
                  <a:srgbClr val="000000"/>
                </a:solidFill>
                <a:latin typeface="Arial"/>
                <a:ea typeface="Arial"/>
                <a:cs typeface="Arial"/>
                <a:sym typeface="Arial"/>
              </a:rPr>
              <a:t>Security Zone</a:t>
            </a:r>
            <a:endParaRPr b="1">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startAt="10"/>
            </a:pPr>
            <a:r>
              <a:rPr lang="vi">
                <a:solidFill>
                  <a:srgbClr val="000000"/>
                </a:solidFill>
                <a:latin typeface="Arial"/>
                <a:ea typeface="Arial"/>
                <a:cs typeface="Arial"/>
                <a:sym typeface="Arial"/>
              </a:rPr>
              <a:t>Có thể chọn tọa độ bất kỳ trên bản đồ để tạo "security zone" không, hay chỉ từ kết quả tìm kiếm?</a:t>
            </a:r>
            <a:endParaRPr>
              <a:solidFill>
                <a:srgbClr val="000000"/>
              </a:solidFill>
              <a:latin typeface="Arial"/>
              <a:ea typeface="Arial"/>
              <a:cs typeface="Arial"/>
              <a:sym typeface="Arial"/>
            </a:endParaRPr>
          </a:p>
          <a:p>
            <a:pPr indent="0" lvl="0" marL="0" rtl="0" algn="l">
              <a:spcBef>
                <a:spcPts val="1200"/>
              </a:spcBef>
              <a:spcAft>
                <a:spcPts val="0"/>
              </a:spcAft>
              <a:buNone/>
            </a:pPr>
            <a:r>
              <a:rPr b="1" lang="vi">
                <a:solidFill>
                  <a:srgbClr val="000000"/>
                </a:solidFill>
                <a:latin typeface="Arial"/>
                <a:ea typeface="Arial"/>
                <a:cs typeface="Arial"/>
                <a:sym typeface="Arial"/>
              </a:rPr>
              <a:t>Setting Screen</a:t>
            </a:r>
            <a:endParaRPr b="1">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startAt="11"/>
            </a:pPr>
            <a:r>
              <a:rPr lang="vi">
                <a:solidFill>
                  <a:srgbClr val="000000"/>
                </a:solidFill>
                <a:latin typeface="Arial"/>
                <a:ea typeface="Arial"/>
                <a:cs typeface="Arial"/>
                <a:sym typeface="Arial"/>
              </a:rPr>
              <a:t>Chưa thấy màn hình quản lý subscription trong thiết kế. Tính năng này chưa hoàn thiện?</a:t>
            </a:r>
            <a:endParaRPr>
              <a:solidFill>
                <a:srgbClr val="000000"/>
              </a:solidFill>
              <a:latin typeface="Arial"/>
              <a:ea typeface="Arial"/>
              <a:cs typeface="Arial"/>
              <a:sym typeface="Arial"/>
            </a:endParaRPr>
          </a:p>
          <a:p>
            <a:pPr indent="0" lvl="0" marL="0" rtl="0" algn="l">
              <a:spcBef>
                <a:spcPts val="1200"/>
              </a:spcBef>
              <a:spcAft>
                <a:spcPts val="0"/>
              </a:spcAft>
              <a:buNone/>
            </a:pPr>
            <a:r>
              <a:rPr b="1" lang="vi">
                <a:solidFill>
                  <a:srgbClr val="000000"/>
                </a:solidFill>
                <a:latin typeface="Arial"/>
                <a:ea typeface="Arial"/>
                <a:cs typeface="Arial"/>
                <a:sym typeface="Arial"/>
              </a:rPr>
              <a:t>Login</a:t>
            </a:r>
            <a:endParaRPr>
              <a:solidFill>
                <a:srgbClr val="000000"/>
              </a:solidFill>
              <a:latin typeface="Arial"/>
              <a:ea typeface="Arial"/>
              <a:cs typeface="Arial"/>
              <a:sym typeface="Arial"/>
            </a:endParaRPr>
          </a:p>
          <a:p>
            <a:pPr indent="-311150" lvl="0" marL="457200" marR="0" rtl="0" algn="l">
              <a:lnSpc>
                <a:spcPct val="115000"/>
              </a:lnSpc>
              <a:spcBef>
                <a:spcPts val="1200"/>
              </a:spcBef>
              <a:spcAft>
                <a:spcPts val="0"/>
              </a:spcAft>
              <a:buClr>
                <a:srgbClr val="000000"/>
              </a:buClr>
              <a:buSzPts val="1300"/>
              <a:buFont typeface="Arial"/>
              <a:buAutoNum type="arabicPeriod" startAt="11"/>
            </a:pPr>
            <a:r>
              <a:rPr lang="vi">
                <a:solidFill>
                  <a:srgbClr val="000000"/>
                </a:solidFill>
                <a:latin typeface="Arial"/>
                <a:ea typeface="Arial"/>
                <a:cs typeface="Arial"/>
                <a:sym typeface="Arial"/>
              </a:rPr>
              <a:t>Có cần hỗ trợ đăng nhập bằng Apple ID không? (Lưu ý: Nếu không có, Apple có thể reject ứng dụng khi submit lên App Store theo chính sách Sign In with Apple).</a:t>
            </a:r>
            <a:endParaRPr/>
          </a:p>
          <a:p>
            <a:pPr indent="0" lvl="0" marL="0" rtl="0" algn="l">
              <a:spcBef>
                <a:spcPts val="1200"/>
              </a:spcBef>
              <a:spcAft>
                <a:spcPts val="1200"/>
              </a:spcAft>
              <a:buNone/>
            </a:pPr>
            <a:r>
              <a:t/>
            </a:r>
            <a:endParaRPr b="1">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19"/>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Tech Stack từ Danaexperts</a:t>
            </a:r>
            <a:endParaRPr/>
          </a:p>
          <a:p>
            <a:pPr indent="0" lvl="0" marL="0" rtl="0" algn="l">
              <a:spcBef>
                <a:spcPts val="0"/>
              </a:spcBef>
              <a:spcAft>
                <a:spcPts val="0"/>
              </a:spcAft>
              <a:buNone/>
            </a:pPr>
            <a:r>
              <a:t/>
            </a:r>
            <a:endParaRPr/>
          </a:p>
        </p:txBody>
      </p:sp>
      <p:sp>
        <p:nvSpPr>
          <p:cNvPr id="123" name="Google Shape;123;p19"/>
          <p:cNvSpPr txBox="1"/>
          <p:nvPr>
            <p:ph idx="1" type="body"/>
          </p:nvPr>
        </p:nvSpPr>
        <p:spPr>
          <a:xfrm>
            <a:off x="729450" y="2078875"/>
            <a:ext cx="2733600" cy="3064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vi">
                <a:solidFill>
                  <a:srgbClr val="000000"/>
                </a:solidFill>
                <a:latin typeface="Arial"/>
                <a:ea typeface="Arial"/>
                <a:cs typeface="Arial"/>
                <a:sym typeface="Arial"/>
              </a:rPr>
              <a:t>Backend</a:t>
            </a:r>
            <a:endParaRPr b="1">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Javascript,</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TypeScript</a:t>
            </a:r>
            <a:endParaRPr>
              <a:solidFill>
                <a:srgbClr val="000000"/>
              </a:solidFill>
              <a:latin typeface="Arial"/>
              <a:ea typeface="Arial"/>
              <a:cs typeface="Arial"/>
              <a:sym typeface="Arial"/>
            </a:endParaRPr>
          </a:p>
          <a:p>
            <a:pPr indent="0" lvl="0" marL="0" rtl="0" algn="l">
              <a:spcBef>
                <a:spcPts val="0"/>
              </a:spcBef>
              <a:spcAft>
                <a:spcPts val="0"/>
              </a:spcAft>
              <a:buNone/>
            </a:pPr>
            <a:r>
              <a:rPr b="1" lang="vi">
                <a:solidFill>
                  <a:srgbClr val="000000"/>
                </a:solidFill>
                <a:latin typeface="Arial"/>
                <a:ea typeface="Arial"/>
                <a:cs typeface="Arial"/>
                <a:sym typeface="Arial"/>
              </a:rPr>
              <a:t>Architecture</a:t>
            </a:r>
            <a:endParaRPr b="1">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Serverless (Microservices)</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Server-Client</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Message Queue</a:t>
            </a:r>
            <a:endParaRPr>
              <a:solidFill>
                <a:srgbClr val="000000"/>
              </a:solidFill>
              <a:latin typeface="Arial"/>
              <a:ea typeface="Arial"/>
              <a:cs typeface="Arial"/>
              <a:sym typeface="Arial"/>
            </a:endParaRPr>
          </a:p>
          <a:p>
            <a:pPr indent="0" lvl="0" marL="0" rtl="0" algn="l">
              <a:spcBef>
                <a:spcPts val="0"/>
              </a:spcBef>
              <a:spcAft>
                <a:spcPts val="0"/>
              </a:spcAft>
              <a:buNone/>
            </a:pPr>
            <a:r>
              <a:rPr b="1" lang="vi">
                <a:solidFill>
                  <a:srgbClr val="000000"/>
                </a:solidFill>
                <a:latin typeface="Arial"/>
                <a:ea typeface="Arial"/>
                <a:cs typeface="Arial"/>
                <a:sym typeface="Arial"/>
              </a:rPr>
              <a:t>Database</a:t>
            </a:r>
            <a:endParaRPr b="1">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FireBase</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Redis (Memcached)</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SQL</a:t>
            </a:r>
            <a:endParaRPr>
              <a:solidFill>
                <a:srgbClr val="000000"/>
              </a:solidFill>
              <a:latin typeface="Arial"/>
              <a:ea typeface="Arial"/>
              <a:cs typeface="Arial"/>
              <a:sym typeface="Arial"/>
            </a:endParaRPr>
          </a:p>
          <a:p>
            <a:pPr indent="0" lvl="0" marL="0" rtl="0" algn="l">
              <a:spcBef>
                <a:spcPts val="0"/>
              </a:spcBef>
              <a:spcAft>
                <a:spcPts val="0"/>
              </a:spcAft>
              <a:buNone/>
            </a:pPr>
            <a:r>
              <a:t/>
            </a:r>
            <a:endParaRPr b="1">
              <a:solidFill>
                <a:srgbClr val="000000"/>
              </a:solidFill>
              <a:latin typeface="Arial"/>
              <a:ea typeface="Arial"/>
              <a:cs typeface="Arial"/>
              <a:sym typeface="Arial"/>
            </a:endParaRPr>
          </a:p>
          <a:p>
            <a:pPr indent="0" lvl="0" marL="0" rtl="0" algn="l">
              <a:spcBef>
                <a:spcPts val="0"/>
              </a:spcBef>
              <a:spcAft>
                <a:spcPts val="0"/>
              </a:spcAft>
              <a:buNone/>
            </a:pPr>
            <a:r>
              <a:t/>
            </a:r>
            <a:endParaRPr b="1">
              <a:solidFill>
                <a:srgbClr val="000000"/>
              </a:solidFill>
              <a:latin typeface="Arial"/>
              <a:ea typeface="Arial"/>
              <a:cs typeface="Arial"/>
              <a:sym typeface="Arial"/>
            </a:endParaRPr>
          </a:p>
        </p:txBody>
      </p:sp>
      <p:sp>
        <p:nvSpPr>
          <p:cNvPr id="124" name="Google Shape;124;p19"/>
          <p:cNvSpPr txBox="1"/>
          <p:nvPr>
            <p:ph idx="1" type="body"/>
          </p:nvPr>
        </p:nvSpPr>
        <p:spPr>
          <a:xfrm>
            <a:off x="3640350" y="2078875"/>
            <a:ext cx="2556300" cy="30645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b="1" lang="vi">
                <a:solidFill>
                  <a:srgbClr val="000000"/>
                </a:solidFill>
                <a:latin typeface="Arial"/>
                <a:ea typeface="Arial"/>
                <a:cs typeface="Arial"/>
                <a:sym typeface="Arial"/>
              </a:rPr>
              <a:t>Cloud provider</a:t>
            </a:r>
            <a:endParaRPr b="1">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FireBase(GCP)</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Own Hosting</a:t>
            </a:r>
            <a:endParaRPr>
              <a:solidFill>
                <a:srgbClr val="000000"/>
              </a:solidFill>
              <a:latin typeface="Arial"/>
              <a:ea typeface="Arial"/>
              <a:cs typeface="Arial"/>
              <a:sym typeface="Arial"/>
            </a:endParaRPr>
          </a:p>
          <a:p>
            <a:pPr indent="0" lvl="0" marL="0" rtl="0" algn="l">
              <a:spcBef>
                <a:spcPts val="0"/>
              </a:spcBef>
              <a:spcAft>
                <a:spcPts val="0"/>
              </a:spcAft>
              <a:buNone/>
            </a:pPr>
            <a:r>
              <a:rPr b="1" lang="vi">
                <a:solidFill>
                  <a:srgbClr val="000000"/>
                </a:solidFill>
                <a:latin typeface="Arial"/>
                <a:ea typeface="Arial"/>
                <a:cs typeface="Arial"/>
                <a:sym typeface="Arial"/>
              </a:rPr>
              <a:t>Communication</a:t>
            </a:r>
            <a:endParaRPr b="1">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REST</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MQTT</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TCP/protobuf</a:t>
            </a:r>
            <a:endParaRPr>
              <a:solidFill>
                <a:srgbClr val="000000"/>
              </a:solidFill>
              <a:latin typeface="Arial"/>
              <a:ea typeface="Arial"/>
              <a:cs typeface="Arial"/>
              <a:sym typeface="Arial"/>
            </a:endParaRPr>
          </a:p>
          <a:p>
            <a:pPr indent="0" lvl="0" marL="0" rtl="0" algn="l">
              <a:spcBef>
                <a:spcPts val="0"/>
              </a:spcBef>
              <a:spcAft>
                <a:spcPts val="0"/>
              </a:spcAft>
              <a:buNone/>
            </a:pPr>
            <a:r>
              <a:rPr b="1" lang="vi">
                <a:solidFill>
                  <a:srgbClr val="000000"/>
                </a:solidFill>
                <a:latin typeface="Arial"/>
                <a:ea typeface="Arial"/>
                <a:cs typeface="Arial"/>
                <a:sym typeface="Arial"/>
              </a:rPr>
              <a:t>iOS</a:t>
            </a:r>
            <a:endParaRPr b="1">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React Native</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Swift</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Objective-C</a:t>
            </a:r>
            <a:endParaRPr>
              <a:solidFill>
                <a:srgbClr val="000000"/>
              </a:solidFill>
              <a:latin typeface="Arial"/>
              <a:ea typeface="Arial"/>
              <a:cs typeface="Arial"/>
              <a:sym typeface="Arial"/>
            </a:endParaRPr>
          </a:p>
          <a:p>
            <a:pPr indent="0" lvl="0" marL="0" rtl="0" algn="l">
              <a:spcBef>
                <a:spcPts val="0"/>
              </a:spcBef>
              <a:spcAft>
                <a:spcPts val="0"/>
              </a:spcAft>
              <a:buNone/>
            </a:pPr>
            <a:r>
              <a:t/>
            </a:r>
            <a:endParaRPr b="1">
              <a:solidFill>
                <a:srgbClr val="000000"/>
              </a:solidFill>
              <a:latin typeface="Arial"/>
              <a:ea typeface="Arial"/>
              <a:cs typeface="Arial"/>
              <a:sym typeface="Arial"/>
            </a:endParaRPr>
          </a:p>
          <a:p>
            <a:pPr indent="0" lvl="0" marL="0" rtl="0" algn="l">
              <a:spcBef>
                <a:spcPts val="0"/>
              </a:spcBef>
              <a:spcAft>
                <a:spcPts val="0"/>
              </a:spcAft>
              <a:buNone/>
            </a:pPr>
            <a:r>
              <a:t/>
            </a:r>
            <a:endParaRPr b="1">
              <a:solidFill>
                <a:srgbClr val="000000"/>
              </a:solidFill>
              <a:latin typeface="Arial"/>
              <a:ea typeface="Arial"/>
              <a:cs typeface="Arial"/>
              <a:sym typeface="Arial"/>
            </a:endParaRPr>
          </a:p>
        </p:txBody>
      </p:sp>
      <p:sp>
        <p:nvSpPr>
          <p:cNvPr id="125" name="Google Shape;125;p19"/>
          <p:cNvSpPr txBox="1"/>
          <p:nvPr>
            <p:ph idx="1" type="body"/>
          </p:nvPr>
        </p:nvSpPr>
        <p:spPr>
          <a:xfrm>
            <a:off x="6373900" y="2078875"/>
            <a:ext cx="2556300" cy="3064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vi">
                <a:solidFill>
                  <a:srgbClr val="1D1C1D"/>
                </a:solidFill>
                <a:highlight>
                  <a:srgbClr val="F8F8F8"/>
                </a:highlight>
                <a:latin typeface="Arial"/>
                <a:ea typeface="Arial"/>
                <a:cs typeface="Arial"/>
                <a:sym typeface="Arial"/>
              </a:rPr>
              <a:t>Authentication provider </a:t>
            </a:r>
            <a:endParaRPr b="1">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Google</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Facebook</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X</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Apple</a:t>
            </a:r>
            <a:endParaRPr>
              <a:solidFill>
                <a:srgbClr val="000000"/>
              </a:solidFill>
              <a:latin typeface="Arial"/>
              <a:ea typeface="Arial"/>
              <a:cs typeface="Arial"/>
              <a:sym typeface="Arial"/>
            </a:endParaRPr>
          </a:p>
          <a:p>
            <a:pPr indent="0" lvl="0" marL="0" rtl="0" algn="l">
              <a:spcBef>
                <a:spcPts val="0"/>
              </a:spcBef>
              <a:spcAft>
                <a:spcPts val="0"/>
              </a:spcAft>
              <a:buNone/>
            </a:pPr>
            <a:r>
              <a:rPr b="1" lang="vi">
                <a:solidFill>
                  <a:srgbClr val="1D1C1D"/>
                </a:solidFill>
                <a:highlight>
                  <a:srgbClr val="F8F8F8"/>
                </a:highlight>
                <a:latin typeface="Arial"/>
                <a:ea typeface="Arial"/>
                <a:cs typeface="Arial"/>
                <a:sym typeface="Arial"/>
              </a:rPr>
              <a:t>Map provider </a:t>
            </a:r>
            <a:endParaRPr b="1">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Open Street Map</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lang="vi">
                <a:solidFill>
                  <a:srgbClr val="000000"/>
                </a:solidFill>
                <a:latin typeface="Arial"/>
                <a:ea typeface="Arial"/>
                <a:cs typeface="Arial"/>
                <a:sym typeface="Arial"/>
              </a:rPr>
              <a:t>Google Map</a:t>
            </a:r>
            <a:endParaRPr>
              <a:solidFill>
                <a:srgbClr val="000000"/>
              </a:solidFill>
              <a:latin typeface="Arial"/>
              <a:ea typeface="Arial"/>
              <a:cs typeface="Arial"/>
              <a:sym typeface="Arial"/>
            </a:endParaRPr>
          </a:p>
          <a:p>
            <a:pPr indent="0" lvl="0" marL="0" rtl="0" algn="l">
              <a:spcBef>
                <a:spcPts val="0"/>
              </a:spcBef>
              <a:spcAft>
                <a:spcPts val="0"/>
              </a:spcAft>
              <a:buNone/>
            </a:pPr>
            <a:r>
              <a:t/>
            </a:r>
            <a:endParaRPr b="1">
              <a:solidFill>
                <a:srgbClr val="000000"/>
              </a:solidFill>
              <a:latin typeface="Arial"/>
              <a:ea typeface="Arial"/>
              <a:cs typeface="Arial"/>
              <a:sym typeface="Arial"/>
            </a:endParaRPr>
          </a:p>
          <a:p>
            <a:pPr indent="0" lvl="0" marL="0" rtl="0" algn="l">
              <a:spcBef>
                <a:spcPts val="0"/>
              </a:spcBef>
              <a:spcAft>
                <a:spcPts val="0"/>
              </a:spcAft>
              <a:buNone/>
            </a:pPr>
            <a:r>
              <a:t/>
            </a:r>
            <a:endParaRPr b="1">
              <a:solidFill>
                <a:srgbClr val="000000"/>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0"/>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Work flow</a:t>
            </a:r>
            <a:endParaRPr/>
          </a:p>
        </p:txBody>
      </p:sp>
      <p:sp>
        <p:nvSpPr>
          <p:cNvPr id="131" name="Google Shape;131;p20"/>
          <p:cNvSpPr txBox="1"/>
          <p:nvPr>
            <p:ph idx="1" type="body"/>
          </p:nvPr>
        </p:nvSpPr>
        <p:spPr>
          <a:xfrm>
            <a:off x="729450" y="2078875"/>
            <a:ext cx="7688700" cy="2613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vi">
                <a:solidFill>
                  <a:srgbClr val="000000"/>
                </a:solidFill>
                <a:latin typeface="Arial"/>
                <a:ea typeface="Arial"/>
                <a:cs typeface="Arial"/>
                <a:sym typeface="Arial"/>
              </a:rPr>
              <a:t>Báo cáo (Reports):</a:t>
            </a:r>
            <a:endParaRPr b="1">
              <a:solidFill>
                <a:srgbClr val="000000"/>
              </a:solidFill>
              <a:latin typeface="Arial"/>
              <a:ea typeface="Arial"/>
              <a:cs typeface="Arial"/>
              <a:sym typeface="Arial"/>
            </a:endParaRPr>
          </a:p>
          <a:p>
            <a:pPr indent="-311150" lvl="0" marL="457200" rtl="0" algn="l">
              <a:spcBef>
                <a:spcPts val="1200"/>
              </a:spcBef>
              <a:spcAft>
                <a:spcPts val="0"/>
              </a:spcAft>
              <a:buClr>
                <a:srgbClr val="000000"/>
              </a:buClr>
              <a:buSzPts val="1300"/>
              <a:buFont typeface="Arial"/>
              <a:buAutoNum type="arabicPeriod"/>
            </a:pPr>
            <a:r>
              <a:rPr lang="vi">
                <a:solidFill>
                  <a:srgbClr val="000000"/>
                </a:solidFill>
                <a:latin typeface="Arial"/>
                <a:ea typeface="Arial"/>
                <a:cs typeface="Arial"/>
                <a:sym typeface="Arial"/>
              </a:rPr>
              <a:t>Báo cáo gửi bao nhiêu lần mỗi tuần? (Ví dụ: 1 lần/tuần, hàng ngày?)</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lang="vi">
                <a:solidFill>
                  <a:srgbClr val="000000"/>
                </a:solidFill>
                <a:latin typeface="Arial"/>
                <a:ea typeface="Arial"/>
                <a:cs typeface="Arial"/>
                <a:sym typeface="Arial"/>
              </a:rPr>
              <a:t>Báo cáo qua email hay họp online? Có cần tích hợp thêm kênh nào khác không (như telegram)?</a:t>
            </a:r>
            <a:endParaRPr>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AutoNum type="arabicPeriod"/>
            </a:pPr>
            <a:r>
              <a:rPr lang="vi">
                <a:solidFill>
                  <a:srgbClr val="000000"/>
                </a:solidFill>
                <a:latin typeface="Arial"/>
                <a:ea typeface="Arial"/>
                <a:cs typeface="Arial"/>
                <a:sym typeface="Arial"/>
              </a:rPr>
              <a:t> Có yêu cầu cụ thể nào về giao diện báo cáo (report UI) không?</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1"/>
          <p:cNvSpPr txBox="1"/>
          <p:nvPr>
            <p:ph type="title"/>
          </p:nvPr>
        </p:nvSpPr>
        <p:spPr>
          <a:xfrm>
            <a:off x="729450" y="1318650"/>
            <a:ext cx="7688700" cy="5352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vi"/>
              <a:t>Open Discussion</a:t>
            </a:r>
            <a:endParaRPr/>
          </a:p>
        </p:txBody>
      </p:sp>
      <p:sp>
        <p:nvSpPr>
          <p:cNvPr id="137" name="Google Shape;137;p21"/>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vi"/>
              <a:t>iPad version?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p>
            <a:pPr indent="0" lvl="0" marL="0" rtl="0" algn="l">
              <a:lnSpc>
                <a:spcPct val="115000"/>
              </a:lnSpc>
              <a:spcBef>
                <a:spcPts val="1200"/>
              </a:spcBef>
              <a:spcAft>
                <a:spcPts val="200"/>
              </a:spcAft>
              <a:buNone/>
            </a:pPr>
            <a:r>
              <a:rPr lang="vi" sz="2300">
                <a:solidFill>
                  <a:srgbClr val="000000"/>
                </a:solidFill>
                <a:latin typeface="Arial"/>
                <a:ea typeface="Arial"/>
                <a:cs typeface="Arial"/>
                <a:sym typeface="Arial"/>
              </a:rPr>
              <a:t>Kết thúc</a:t>
            </a:r>
            <a:endParaRPr sz="3800"/>
          </a:p>
        </p:txBody>
      </p:sp>
      <p:sp>
        <p:nvSpPr>
          <p:cNvPr id="143" name="Google Shape;143;p22"/>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p>
            <a:pPr indent="-311150" lvl="0" marL="457200" rtl="0" algn="l">
              <a:spcBef>
                <a:spcPts val="1200"/>
              </a:spcBef>
              <a:spcAft>
                <a:spcPts val="0"/>
              </a:spcAft>
              <a:buClr>
                <a:srgbClr val="000000"/>
              </a:buClr>
              <a:buSzPts val="1300"/>
              <a:buFont typeface="Arial"/>
              <a:buChar char="●"/>
            </a:pPr>
            <a:r>
              <a:rPr b="1" lang="vi">
                <a:solidFill>
                  <a:srgbClr val="000000"/>
                </a:solidFill>
                <a:latin typeface="Arial"/>
                <a:ea typeface="Arial"/>
                <a:cs typeface="Arial"/>
                <a:sym typeface="Arial"/>
              </a:rPr>
              <a:t>Tóm tắt:</a:t>
            </a:r>
            <a:endParaRPr b="1">
              <a:solidFill>
                <a:srgbClr val="000000"/>
              </a:solidFill>
              <a:latin typeface="Arial"/>
              <a:ea typeface="Arial"/>
              <a:cs typeface="Arial"/>
              <a:sym typeface="Arial"/>
            </a:endParaRPr>
          </a:p>
          <a:p>
            <a:pPr indent="-311150" lvl="1" marL="914400" rtl="0" algn="l">
              <a:spcBef>
                <a:spcPts val="0"/>
              </a:spcBef>
              <a:spcAft>
                <a:spcPts val="0"/>
              </a:spcAft>
              <a:buClr>
                <a:srgbClr val="000000"/>
              </a:buClr>
              <a:buSzPts val="1300"/>
              <a:buFont typeface="Arial"/>
              <a:buChar char="○"/>
            </a:pPr>
            <a:r>
              <a:rPr lang="vi" sz="1300">
                <a:solidFill>
                  <a:srgbClr val="000000"/>
                </a:solidFill>
                <a:latin typeface="Arial"/>
                <a:ea typeface="Arial"/>
                <a:cs typeface="Arial"/>
                <a:sym typeface="Arial"/>
              </a:rPr>
              <a:t>Đã thảo luận các điểm chưa rõ trong spec.</a:t>
            </a:r>
            <a:endParaRPr sz="1300">
              <a:solidFill>
                <a:srgbClr val="000000"/>
              </a:solidFill>
              <a:latin typeface="Arial"/>
              <a:ea typeface="Arial"/>
              <a:cs typeface="Arial"/>
              <a:sym typeface="Arial"/>
            </a:endParaRPr>
          </a:p>
          <a:p>
            <a:pPr indent="-311150" lvl="1" marL="914400" rtl="0" algn="l">
              <a:spcBef>
                <a:spcPts val="0"/>
              </a:spcBef>
              <a:spcAft>
                <a:spcPts val="0"/>
              </a:spcAft>
              <a:buClr>
                <a:srgbClr val="000000"/>
              </a:buClr>
              <a:buSzPts val="1300"/>
              <a:buFont typeface="Arial"/>
              <a:buChar char="○"/>
            </a:pPr>
            <a:r>
              <a:rPr lang="vi" sz="1300">
                <a:solidFill>
                  <a:srgbClr val="000000"/>
                </a:solidFill>
                <a:latin typeface="Arial"/>
                <a:ea typeface="Arial"/>
                <a:cs typeface="Arial"/>
                <a:sym typeface="Arial"/>
              </a:rPr>
              <a:t>Giới thiệu tech stack và lý do chọn.</a:t>
            </a:r>
            <a:endParaRPr sz="1300">
              <a:solidFill>
                <a:srgbClr val="000000"/>
              </a:solidFill>
              <a:latin typeface="Arial"/>
              <a:ea typeface="Arial"/>
              <a:cs typeface="Arial"/>
              <a:sym typeface="Arial"/>
            </a:endParaRPr>
          </a:p>
          <a:p>
            <a:pPr indent="-311150" lvl="1" marL="914400" rtl="0" algn="l">
              <a:spcBef>
                <a:spcPts val="0"/>
              </a:spcBef>
              <a:spcAft>
                <a:spcPts val="0"/>
              </a:spcAft>
              <a:buClr>
                <a:srgbClr val="000000"/>
              </a:buClr>
              <a:buSzPts val="1300"/>
              <a:buFont typeface="Arial"/>
              <a:buChar char="○"/>
            </a:pPr>
            <a:r>
              <a:rPr lang="vi" sz="1300">
                <a:solidFill>
                  <a:srgbClr val="000000"/>
                </a:solidFill>
                <a:latin typeface="Arial"/>
                <a:ea typeface="Arial"/>
                <a:cs typeface="Arial"/>
                <a:sym typeface="Arial"/>
              </a:rPr>
              <a:t>Đặt câu hỏi bổ sung để hoàn thiện yêu cầu.</a:t>
            </a:r>
            <a:endParaRPr sz="1300">
              <a:solidFill>
                <a:srgbClr val="000000"/>
              </a:solidFill>
              <a:latin typeface="Arial"/>
              <a:ea typeface="Arial"/>
              <a:cs typeface="Arial"/>
              <a:sym typeface="Arial"/>
            </a:endParaRPr>
          </a:p>
          <a:p>
            <a:pPr indent="-311150" lvl="0" marL="457200" rtl="0" algn="l">
              <a:spcBef>
                <a:spcPts val="0"/>
              </a:spcBef>
              <a:spcAft>
                <a:spcPts val="0"/>
              </a:spcAft>
              <a:buClr>
                <a:srgbClr val="000000"/>
              </a:buClr>
              <a:buSzPts val="1300"/>
              <a:buFont typeface="Arial"/>
              <a:buChar char="●"/>
            </a:pPr>
            <a:r>
              <a:rPr b="1" lang="vi">
                <a:solidFill>
                  <a:srgbClr val="000000"/>
                </a:solidFill>
                <a:latin typeface="Arial"/>
                <a:ea typeface="Arial"/>
                <a:cs typeface="Arial"/>
                <a:sym typeface="Arial"/>
              </a:rPr>
              <a:t>Hành động tiếp theo:</a:t>
            </a:r>
            <a:endParaRPr b="1">
              <a:solidFill>
                <a:srgbClr val="000000"/>
              </a:solidFill>
              <a:latin typeface="Arial"/>
              <a:ea typeface="Arial"/>
              <a:cs typeface="Arial"/>
              <a:sym typeface="Arial"/>
            </a:endParaRPr>
          </a:p>
          <a:p>
            <a:pPr indent="-311150" lvl="1" marL="914400" rtl="0" algn="l">
              <a:spcBef>
                <a:spcPts val="0"/>
              </a:spcBef>
              <a:spcAft>
                <a:spcPts val="0"/>
              </a:spcAft>
              <a:buClr>
                <a:srgbClr val="000000"/>
              </a:buClr>
              <a:buSzPts val="1300"/>
              <a:buFont typeface="Arial"/>
              <a:buChar char="○"/>
            </a:pPr>
            <a:r>
              <a:rPr lang="vi" sz="1300">
                <a:solidFill>
                  <a:srgbClr val="000000"/>
                </a:solidFill>
                <a:latin typeface="Arial"/>
                <a:ea typeface="Arial"/>
                <a:cs typeface="Arial"/>
                <a:sym typeface="Arial"/>
              </a:rPr>
              <a:t>Gửi biên bản họp (meeting minutes) trong vòng 24 giờ.</a:t>
            </a:r>
            <a:endParaRPr sz="1300">
              <a:solidFill>
                <a:srgbClr val="000000"/>
              </a:solidFill>
              <a:latin typeface="Arial"/>
              <a:ea typeface="Arial"/>
              <a:cs typeface="Arial"/>
              <a:sym typeface="Arial"/>
            </a:endParaRPr>
          </a:p>
          <a:p>
            <a:pPr indent="-311150" lvl="1" marL="914400" rtl="0" algn="l">
              <a:spcBef>
                <a:spcPts val="0"/>
              </a:spcBef>
              <a:spcAft>
                <a:spcPts val="0"/>
              </a:spcAft>
              <a:buClr>
                <a:srgbClr val="000000"/>
              </a:buClr>
              <a:buSzPts val="1300"/>
              <a:buFont typeface="Arial"/>
              <a:buChar char="○"/>
            </a:pPr>
            <a:r>
              <a:rPr lang="vi" sz="1300">
                <a:solidFill>
                  <a:srgbClr val="000000"/>
                </a:solidFill>
                <a:latin typeface="Arial"/>
                <a:ea typeface="Arial"/>
                <a:cs typeface="Arial"/>
                <a:sym typeface="Arial"/>
              </a:rPr>
              <a:t>Xác nhận spec cuối cùng trước khi bắt đầu Phase 1.</a:t>
            </a:r>
            <a:endParaRPr sz="1300">
              <a:solidFill>
                <a:srgbClr val="000000"/>
              </a:solidFill>
              <a:latin typeface="Arial"/>
              <a:ea typeface="Arial"/>
              <a:cs typeface="Arial"/>
              <a:sym typeface="Aria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